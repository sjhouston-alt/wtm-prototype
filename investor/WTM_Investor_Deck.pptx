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371600"/>
            <a:ext cx="4114800" cy="4114800"/>
          </a:xfrm>
          <a:prstGeom prst="ellipse">
            <a:avLst/>
          </a:prstGeom>
          <a:solidFill>
            <a:srgbClr val="DB2777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A8A8B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WTM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What's the Move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Less planning. </a:t>
            </a:r>
            <a:pPr indent="0" marL="0">
              <a:buNone/>
            </a:pPr>
            <a:r>
              <a:rPr lang="en-US" sz="5200" b="1" dirty="0">
                <a:solidFill>
                  <a:srgbClr val="10B98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More living.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premium app for booking the best experiences in your city.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hidden fees. No friction. Just memorable moments.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E5E6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Investor Deck · Q2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371600"/>
            <a:ext cx="4114800" cy="4114800"/>
          </a:xfrm>
          <a:prstGeom prst="ellipse">
            <a:avLst/>
          </a:prstGeom>
          <a:solidFill>
            <a:srgbClr val="DB2777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11D4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Booking the night out broke.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premium experience lives on a different platform. Each takes a cut, hides fees until checkout, and treats local hosts as line items. The customer pays more, the small business earns less, and the actual moment never happens.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3657600" cy="2194560"/>
          </a:xfrm>
          <a:prstGeom prst="roundRect">
            <a:avLst>
              <a:gd name="adj" fmla="val 5833"/>
            </a:avLst>
          </a:prstGeom>
          <a:solidFill>
            <a:srgbClr val="151525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976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11D4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6+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22960" y="51663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Apps to plan one weekend. OpenTable for dinner, Resy for cocktails, SeatGeek for the show, Lyft home.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4114800"/>
            <a:ext cx="3657600" cy="2194560"/>
          </a:xfrm>
          <a:prstGeom prst="roundRect">
            <a:avLst>
              <a:gd name="adj" fmla="val 5833"/>
            </a:avLst>
          </a:prstGeom>
          <a:solidFill>
            <a:srgbClr val="151525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42976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11D4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38%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63440" y="51663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millennials abandoned a booking in the past 90 days because of hidden fees discovered at checkout.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4114800"/>
            <a:ext cx="3657600" cy="2194560"/>
          </a:xfrm>
          <a:prstGeom prst="roundRect">
            <a:avLst>
              <a:gd name="adj" fmla="val 5833"/>
            </a:avLst>
          </a:prstGeom>
          <a:solidFill>
            <a:srgbClr val="151525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42976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11D4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73%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503920" y="51663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small experience hosts cite high platform fees as the number one reason for not listing on existing apps.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E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/ 17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E5E6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WTM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371600"/>
            <a:ext cx="4114800" cy="4114800"/>
          </a:xfrm>
          <a:prstGeom prst="ellipse">
            <a:avLst/>
          </a:prstGeom>
          <a:solidFill>
            <a:srgbClr val="DB2777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855F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One app. Every experience.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Zero hidden fees.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WTM is the consumer-facing layer for the experience economy. Curated, verified, transparently priced. Built mobile-first for millennials and Gen Z who want one great night over three mediocre ones.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389120"/>
            <a:ext cx="3657600" cy="2011680"/>
          </a:xfrm>
          <a:prstGeom prst="roundRect">
            <a:avLst>
              <a:gd name="adj" fmla="val 6364"/>
            </a:avLst>
          </a:prstGeom>
          <a:solidFill>
            <a:srgbClr val="151525"/>
          </a:solidFill>
          <a:ln w="1270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526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Radical Transparency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0292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price you see at preview is the price you pay at checkout. No service fees, no taxes added, no surprise charges. Ever.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4389120"/>
            <a:ext cx="3657600" cy="2011680"/>
          </a:xfrm>
          <a:prstGeom prst="roundRect">
            <a:avLst>
              <a:gd name="adj" fmla="val 6364"/>
            </a:avLst>
          </a:prstGeom>
          <a:solidFill>
            <a:srgbClr val="151525"/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4526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5F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Editorial Curation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50292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experience is hand-vetted. Hosts go through a verification process before going live. Quality is the bar.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4389120"/>
            <a:ext cx="3657600" cy="2011680"/>
          </a:xfrm>
          <a:prstGeom prst="roundRect">
            <a:avLst>
              <a:gd name="adj" fmla="val 6364"/>
            </a:avLst>
          </a:prstGeom>
          <a:solidFill>
            <a:srgbClr val="151525"/>
          </a:solidFill>
          <a:ln w="12700">
            <a:solidFill>
              <a:srgbClr val="E11D48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4526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1D4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Local-First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03920" y="50292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94% of our 74 launch experiences are run by small businesses. Our take rate is 15%, half of OpenTable and Resy.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E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/ 17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E5E6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WTM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371600"/>
            <a:ext cx="4114800" cy="4114800"/>
          </a:xfrm>
          <a:prstGeom prst="ellipse">
            <a:avLst/>
          </a:prstGeom>
          <a:solidFill>
            <a:srgbClr val="DB2777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B923C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WHY NOW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experience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economy is exploding.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2743200" cy="2103120"/>
          </a:xfrm>
          <a:prstGeom prst="roundRect">
            <a:avLst>
              <a:gd name="adj" fmla="val 6087"/>
            </a:avLst>
          </a:prstGeom>
          <a:solidFill>
            <a:srgbClr val="151525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657600"/>
            <a:ext cx="219456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$12.2T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4709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Global experience economy by 2027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0" y="3383280"/>
            <a:ext cx="2743200" cy="2103120"/>
          </a:xfrm>
          <a:prstGeom prst="roundRect">
            <a:avLst>
              <a:gd name="adj" fmla="val 6087"/>
            </a:avLst>
          </a:prstGeom>
          <a:solidFill>
            <a:srgbClr val="151525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3657600"/>
            <a:ext cx="219456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A855F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76%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703320" y="4709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Gen Z says experiences over stuff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3383280"/>
            <a:ext cx="2743200" cy="2103120"/>
          </a:xfrm>
          <a:prstGeom prst="roundRect">
            <a:avLst>
              <a:gd name="adj" fmla="val 6087"/>
            </a:avLst>
          </a:prstGeom>
          <a:solidFill>
            <a:srgbClr val="151525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3657600"/>
            <a:ext cx="219456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9.4×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583680" y="4709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Increase in weekend planning search since 2020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89720" y="3383280"/>
            <a:ext cx="2468880" cy="2103120"/>
          </a:xfrm>
          <a:prstGeom prst="roundRect">
            <a:avLst>
              <a:gd name="adj" fmla="val 6087"/>
            </a:avLst>
          </a:prstGeom>
          <a:solidFill>
            <a:srgbClr val="151525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64040" y="3657600"/>
            <a:ext cx="192024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11D4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+38%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464040" y="4709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YoY growth in private chef bookings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56692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Three structural shifts: (1) post-pandemic spend on memorable moments, (2) Gen Z trained on Apple-tier transparency that rejects surprise fees, (3) experience hosts squeezed by 30% take rates on legacy platforms. The infrastructure exists. The product layer does not.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E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/ 17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E5E6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WTM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371600"/>
            <a:ext cx="4114800" cy="4114800"/>
          </a:xfrm>
          <a:prstGeom prst="ellipse">
            <a:avLst/>
          </a:prstGeom>
          <a:solidFill>
            <a:srgbClr val="DB2777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B8A6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CONSUMER 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From open to booked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 under 90 seconds.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657600" cy="1508760"/>
          </a:xfrm>
          <a:prstGeom prst="roundRect">
            <a:avLst>
              <a:gd name="adj" fmla="val 8485"/>
            </a:avLst>
          </a:prstGeom>
          <a:solidFill>
            <a:srgbClr val="151525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926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55F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Open the app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Rotating greeting. Vibe pills. Personalized feed.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2743200"/>
            <a:ext cx="3657600" cy="1508760"/>
          </a:xfrm>
          <a:prstGeom prst="roundRect">
            <a:avLst>
              <a:gd name="adj" fmla="val 8485"/>
            </a:avLst>
          </a:prstGeom>
          <a:solidFill>
            <a:srgbClr val="151525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926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55F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63440" y="32461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Pick a vibe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3657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Date Night, Group, Solo Reset, Last Minute, Family, Thrill.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0" y="2743200"/>
            <a:ext cx="3657600" cy="1508760"/>
          </a:xfrm>
          <a:prstGeom prst="roundRect">
            <a:avLst>
              <a:gd name="adj" fmla="val 8485"/>
            </a:avLst>
          </a:prstGeom>
          <a:solidFill>
            <a:srgbClr val="151525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2926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55F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503920" y="32461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Browse the feed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03920" y="3657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Featured Tonight. Free This Week. Local Spotlight.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434840"/>
            <a:ext cx="3657600" cy="1508760"/>
          </a:xfrm>
          <a:prstGeom prst="roundRect">
            <a:avLst>
              <a:gd name="adj" fmla="val 8485"/>
            </a:avLst>
          </a:prstGeom>
          <a:solidFill>
            <a:srgbClr val="151525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617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55F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2960" y="4937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Tap an experience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5349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Hero gallery. Verified. Full price. Real reviews. Cancellation policy shown.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0" y="4434840"/>
            <a:ext cx="3657600" cy="1508760"/>
          </a:xfrm>
          <a:prstGeom prst="roundRect">
            <a:avLst>
              <a:gd name="adj" fmla="val 8485"/>
            </a:avLst>
          </a:prstGeom>
          <a:solidFill>
            <a:srgbClr val="151525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4617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55F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663440" y="4937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Book in 3 steps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63440" y="5349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Date and time. Guests and add-ons. Pay. Sign waiver if required.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0" y="4434840"/>
            <a:ext cx="3657600" cy="1508760"/>
          </a:xfrm>
          <a:prstGeom prst="roundRect">
            <a:avLst>
              <a:gd name="adj" fmla="val 8485"/>
            </a:avLst>
          </a:prstGeom>
          <a:solidFill>
            <a:srgbClr val="151525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4617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55F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06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503920" y="4937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Show up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503920" y="5349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Calendar synced. Shareable card. E2E encrypted host chat.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E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/ 17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E5E6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WTM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371600"/>
            <a:ext cx="4114800" cy="4114800"/>
          </a:xfrm>
          <a:prstGeom prst="ellipse">
            <a:avLst/>
          </a:prstGeom>
          <a:solidFill>
            <a:srgbClr val="DB2777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INVENTORY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7 categories. 74 experiences.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10 launch cities.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151525"/>
          </a:solidFill>
          <a:ln w="12700">
            <a:solidFill>
              <a:srgbClr val="A855F7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Dining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55F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experiences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274320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151525"/>
          </a:solidFill>
          <a:ln w="12700">
            <a:solidFill>
              <a:srgbClr val="14B8A6">
                <a:alpha val="3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Offshore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experiences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274320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151525"/>
          </a:solidFill>
          <a:ln w="12700">
            <a:solidFill>
              <a:srgbClr val="EC4899">
                <a:alpha val="3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Arts &amp; Music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48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experiences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74320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151525"/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Adventure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41832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experiences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151525"/>
          </a:solidFill>
          <a:ln w="12700">
            <a:solidFill>
              <a:srgbClr val="10B981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206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Wellness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663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experiences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29000" y="402336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151525"/>
          </a:solidFill>
          <a:ln w="12700">
            <a:solidFill>
              <a:srgbClr val="6366F1">
                <a:alpha val="3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4206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Outside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0" y="4663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experiences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402336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151525"/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4206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Kids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37960" y="4663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 experiences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53492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Pets removed as a category — pet_friendly is a tag applied across all 7 categories (20 experiences welcome pets). 29 kid-friendly experiences. Blended avg price $165. 22 experiences require waivers. 17 require ID.me verification.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E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/ 17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E5E6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WTM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371600"/>
            <a:ext cx="4114800" cy="4114800"/>
          </a:xfrm>
          <a:prstGeom prst="ellipse">
            <a:avLst/>
          </a:prstGeom>
          <a:solidFill>
            <a:srgbClr val="DB2777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0B98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MEMBERSHIP TIERS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Gemstone tiers. Earned access.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Not a points race.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66160" cy="3566160"/>
          </a:xfrm>
          <a:prstGeom prst="roundRect">
            <a:avLst>
              <a:gd name="adj" fmla="val 3590"/>
            </a:avLst>
          </a:prstGeom>
          <a:solidFill>
            <a:srgbClr val="151525"/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9443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Rookie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55F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Amethyst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E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 to 6 QE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3017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catalog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Save favorites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Birthday week 2× points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Preview 3 Regular experiences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2743200"/>
            <a:ext cx="3566160" cy="3566160"/>
          </a:xfrm>
          <a:prstGeom prst="roundRect">
            <a:avLst>
              <a:gd name="adj" fmla="val 3590"/>
            </a:avLst>
          </a:prstGeom>
          <a:solidFill>
            <a:srgbClr val="0E1A14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9443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Regular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3337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Emerald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3657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E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 to 17 QE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0" y="3977640"/>
            <a:ext cx="3017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 Members-only unlocked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+ 5% off all experiences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+ 24h early access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+ 1.05× points multiplier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 AI Concierge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 Preview 3 Local experiences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0" y="2743200"/>
            <a:ext cx="3566160" cy="3566160"/>
          </a:xfrm>
          <a:prstGeom prst="roundRect">
            <a:avLst>
              <a:gd name="adj" fmla="val 3590"/>
            </a:avLst>
          </a:prstGeom>
          <a:solidFill>
            <a:srgbClr val="151525"/>
          </a:solidFill>
          <a:ln w="12700">
            <a:solidFill>
              <a:srgbClr val="E11D48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9443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1D4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Local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21040" y="3337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11D4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Ruby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21040" y="3657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5E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18+ QE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321040" y="3977640"/>
            <a:ext cx="3017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 Everything in Regular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+ 10% off all experiences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+ 48h early access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 Priority on sold-out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+ 1.10× points multiplier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 AI + human concierge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i="1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Points never expire — emotional investment is the entire design. Weighted QE (free=0.25, standard=1.0, premium=1.5, exclusive=2.0) prevents gaming. Free events capped at 25% of annual QE. Regular and Local members book 4.7× more often than Rookies.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E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 / 17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E5E6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WTM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371600"/>
            <a:ext cx="4114800" cy="4114800"/>
          </a:xfrm>
          <a:prstGeom prst="ellipse">
            <a:avLst/>
          </a:prstGeom>
          <a:solidFill>
            <a:srgbClr val="DB2777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11D4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TRUST AND SAFETY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infrastructure most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platforms skip entirely.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697480" cy="3566160"/>
          </a:xfrm>
          <a:prstGeom prst="roundRect">
            <a:avLst>
              <a:gd name="adj" fmla="val 4746"/>
            </a:avLst>
          </a:prstGeom>
          <a:solidFill>
            <a:srgbClr val="151525"/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9077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A855F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ID.me Verification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Age, identity, driver records, medical disclosure. The same platform used by the IRS, VA, and 30+ state governments. Triggered by experience requirements, not price.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0" y="2743200"/>
            <a:ext cx="2697480" cy="3566160"/>
          </a:xfrm>
          <a:prstGeom prst="roundRect">
            <a:avLst>
              <a:gd name="adj" fmla="val 4746"/>
            </a:avLst>
          </a:prstGeom>
          <a:solidFill>
            <a:srgbClr val="151525"/>
          </a:solidFill>
          <a:ln w="1270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9077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0B98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In-App Waivers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352044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Legally binding e-signatures with cryptographic hash, timestamp, IP, and device fingerprint. Signed waiver PDF emailed to guest and host. Annual re-sign required.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2743200"/>
            <a:ext cx="2697480" cy="3566160"/>
          </a:xfrm>
          <a:prstGeom prst="roundRect">
            <a:avLst>
              <a:gd name="adj" fmla="val 4746"/>
            </a:avLst>
          </a:prstGeom>
          <a:solidFill>
            <a:srgbClr val="151525"/>
          </a:solidFill>
          <a:ln w="12700">
            <a:solidFill>
              <a:srgbClr val="E11D48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9077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11D4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Cancellation Policy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352044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7-tier system from flexible (24h) to non-refundable (curated experiences). Policy shown at every touchpoint. One-tap cancellation from My Plans.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89720" y="2743200"/>
            <a:ext cx="2697480" cy="3566160"/>
          </a:xfrm>
          <a:prstGeom prst="roundRect">
            <a:avLst>
              <a:gd name="adj" fmla="val 4746"/>
            </a:avLst>
          </a:prstGeom>
          <a:solidFill>
            <a:srgbClr val="151525"/>
          </a:solidFill>
          <a:ln w="12700">
            <a:solidFill>
              <a:srgbClr val="14B8A6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0" y="29077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4B8A6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E2E Messaging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418320" y="352044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Signal Protocol between guests and hosts. Server cannot read message bodies. Sealed Sender — server cannot identify who is messaging whom.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E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/ 17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E5E6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WTM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371600"/>
            <a:ext cx="4114800" cy="4114800"/>
          </a:xfrm>
          <a:prstGeom prst="ellipse">
            <a:avLst/>
          </a:prstGeom>
          <a:solidFill>
            <a:srgbClr val="DB2777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0B98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DIFFERENTIATOR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We empower local hosts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legacy platforms ignore.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108960" cy="5486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788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0" y="2743200"/>
            <a:ext cx="1920240" cy="5486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OpenTable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2743200"/>
            <a:ext cx="1920240" cy="5486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Resy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80960" y="2743200"/>
            <a:ext cx="1920240" cy="5486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Eventbrite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92640" y="2743200"/>
            <a:ext cx="1920240" cy="548640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2980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WTM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3108960" cy="502920"/>
          </a:xfrm>
          <a:prstGeom prst="rect">
            <a:avLst/>
          </a:prstGeom>
          <a:solidFill>
            <a:srgbClr val="151525">
              <a:alpha val="70000"/>
            </a:srgbClr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337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Take rate per booking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0" y="3291840"/>
            <a:ext cx="1920240" cy="502920"/>
          </a:xfrm>
          <a:prstGeom prst="rect">
            <a:avLst/>
          </a:prstGeom>
          <a:solidFill>
            <a:srgbClr val="151525">
              <a:alpha val="70000"/>
            </a:srgbClr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3337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30%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0" y="3291840"/>
            <a:ext cx="1920240" cy="502920"/>
          </a:xfrm>
          <a:prstGeom prst="rect">
            <a:avLst/>
          </a:prstGeom>
          <a:solidFill>
            <a:srgbClr val="151525">
              <a:alpha val="70000"/>
            </a:srgbClr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3337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30%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680960" y="3291840"/>
            <a:ext cx="1920240" cy="502920"/>
          </a:xfrm>
          <a:prstGeom prst="rect">
            <a:avLst/>
          </a:prstGeom>
          <a:solidFill>
            <a:srgbClr val="151525">
              <a:alpha val="70000"/>
            </a:srgbClr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18120" y="3337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20-30%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692640" y="3291840"/>
            <a:ext cx="1920240" cy="502920"/>
          </a:xfrm>
          <a:prstGeom prst="rect">
            <a:avLst/>
          </a:prstGeom>
          <a:solidFill>
            <a:srgbClr val="0C1A14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29800" y="3337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794760"/>
            <a:ext cx="3108960" cy="502920"/>
          </a:xfrm>
          <a:prstGeom prst="rect">
            <a:avLst/>
          </a:prstGeom>
          <a:solidFill>
            <a:srgbClr val="151525">
              <a:alpha val="70000"/>
            </a:srgbClr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840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Hidden fees to consumer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0" y="3794760"/>
            <a:ext cx="1920240" cy="502920"/>
          </a:xfrm>
          <a:prstGeom prst="rect">
            <a:avLst/>
          </a:prstGeom>
          <a:solidFill>
            <a:srgbClr val="151525">
              <a:alpha val="70000"/>
            </a:srgbClr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94760" y="3840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0" y="3794760"/>
            <a:ext cx="1920240" cy="502920"/>
          </a:xfrm>
          <a:prstGeom prst="rect">
            <a:avLst/>
          </a:prstGeom>
          <a:solidFill>
            <a:srgbClr val="151525">
              <a:alpha val="70000"/>
            </a:srgbClr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3840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680960" y="3794760"/>
            <a:ext cx="1920240" cy="502920"/>
          </a:xfrm>
          <a:prstGeom prst="rect">
            <a:avLst/>
          </a:prstGeom>
          <a:solidFill>
            <a:srgbClr val="151525">
              <a:alpha val="70000"/>
            </a:srgbClr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18120" y="3840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692640" y="3794760"/>
            <a:ext cx="1920240" cy="502920"/>
          </a:xfrm>
          <a:prstGeom prst="rect">
            <a:avLst/>
          </a:prstGeom>
          <a:solidFill>
            <a:srgbClr val="0C1A14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29800" y="3840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Never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297680"/>
            <a:ext cx="3108960" cy="502920"/>
          </a:xfrm>
          <a:prstGeom prst="rect">
            <a:avLst/>
          </a:prstGeom>
          <a:solidFill>
            <a:srgbClr val="151525">
              <a:alpha val="70000"/>
            </a:srgbClr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3434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Setup cost for host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57600" y="4297680"/>
            <a:ext cx="1920240" cy="502920"/>
          </a:xfrm>
          <a:prstGeom prst="rect">
            <a:avLst/>
          </a:prstGeom>
          <a:solidFill>
            <a:srgbClr val="151525">
              <a:alpha val="70000"/>
            </a:srgbClr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94760" y="4343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$249/mo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669280" y="4297680"/>
            <a:ext cx="1920240" cy="502920"/>
          </a:xfrm>
          <a:prstGeom prst="rect">
            <a:avLst/>
          </a:prstGeom>
          <a:solidFill>
            <a:srgbClr val="151525">
              <a:alpha val="70000"/>
            </a:srgbClr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06440" y="4343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$249/mo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680960" y="4297680"/>
            <a:ext cx="1920240" cy="502920"/>
          </a:xfrm>
          <a:prstGeom prst="rect">
            <a:avLst/>
          </a:prstGeom>
          <a:solidFill>
            <a:srgbClr val="151525">
              <a:alpha val="70000"/>
            </a:srgbClr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18120" y="4343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692640" y="4297680"/>
            <a:ext cx="1920240" cy="502920"/>
          </a:xfrm>
          <a:prstGeom prst="rect">
            <a:avLst/>
          </a:prstGeom>
          <a:solidFill>
            <a:srgbClr val="0C1A14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29800" y="4343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4800600"/>
            <a:ext cx="3108960" cy="502920"/>
          </a:xfrm>
          <a:prstGeom prst="rect">
            <a:avLst/>
          </a:prstGeom>
          <a:solidFill>
            <a:srgbClr val="151525">
              <a:alpha val="70000"/>
            </a:srgbClr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" y="48463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Small business boost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657600" y="4800600"/>
            <a:ext cx="1920240" cy="502920"/>
          </a:xfrm>
          <a:prstGeom prst="rect">
            <a:avLst/>
          </a:prstGeom>
          <a:solidFill>
            <a:srgbClr val="151525">
              <a:alpha val="70000"/>
            </a:srgbClr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94760" y="4846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669280" y="4800600"/>
            <a:ext cx="1920240" cy="502920"/>
          </a:xfrm>
          <a:prstGeom prst="rect">
            <a:avLst/>
          </a:prstGeom>
          <a:solidFill>
            <a:srgbClr val="151525">
              <a:alpha val="70000"/>
            </a:srgbClr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06440" y="4846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680960" y="4800600"/>
            <a:ext cx="1920240" cy="502920"/>
          </a:xfrm>
          <a:prstGeom prst="rect">
            <a:avLst/>
          </a:prstGeom>
          <a:solidFill>
            <a:srgbClr val="151525">
              <a:alpha val="70000"/>
            </a:srgbClr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18120" y="4846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9692640" y="4800600"/>
            <a:ext cx="1920240" cy="502920"/>
          </a:xfrm>
          <a:prstGeom prst="rect">
            <a:avLst/>
          </a:prstGeom>
          <a:solidFill>
            <a:srgbClr val="0C1A14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829800" y="4846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1.5× points first 90 days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48640" y="5303520"/>
            <a:ext cx="3108960" cy="502920"/>
          </a:xfrm>
          <a:prstGeom prst="rect">
            <a:avLst/>
          </a:prstGeom>
          <a:solidFill>
            <a:srgbClr val="151525">
              <a:alpha val="70000"/>
            </a:srgbClr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5800" y="53492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BIPOC/Women spotlight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3657600" y="5303520"/>
            <a:ext cx="1920240" cy="502920"/>
          </a:xfrm>
          <a:prstGeom prst="rect">
            <a:avLst/>
          </a:prstGeom>
          <a:solidFill>
            <a:srgbClr val="151525">
              <a:alpha val="70000"/>
            </a:srgbClr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94760" y="5349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669280" y="5303520"/>
            <a:ext cx="1920240" cy="502920"/>
          </a:xfrm>
          <a:prstGeom prst="rect">
            <a:avLst/>
          </a:prstGeom>
          <a:solidFill>
            <a:srgbClr val="151525">
              <a:alpha val="70000"/>
            </a:srgbClr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806440" y="5349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7680960" y="5303520"/>
            <a:ext cx="1920240" cy="502920"/>
          </a:xfrm>
          <a:prstGeom prst="rect">
            <a:avLst/>
          </a:prstGeom>
          <a:solidFill>
            <a:srgbClr val="151525">
              <a:alpha val="70000"/>
            </a:srgbClr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18120" y="5349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9692640" y="5303520"/>
            <a:ext cx="1920240" cy="502920"/>
          </a:xfrm>
          <a:prstGeom prst="rect">
            <a:avLst/>
          </a:prstGeom>
          <a:solidFill>
            <a:srgbClr val="0C1A14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829800" y="5349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Dedicated section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0B9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94% of WTM launch experiences run by small businesses. Our 15% take rate means the local chef earns ~$200 more on a $1,000 booking. That is how we win supply.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E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 / 17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572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E5E6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WTM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371600"/>
            <a:ext cx="4114800" cy="4114800"/>
          </a:xfrm>
          <a:prstGeom prst="ellipse">
            <a:avLst/>
          </a:prstGeom>
          <a:solidFill>
            <a:srgbClr val="DB2777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$340B in the 10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launch cities alone.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594360" y="2926080"/>
            <a:ext cx="10972800" cy="822960"/>
          </a:xfrm>
          <a:prstGeom prst="roundRect">
            <a:avLst>
              <a:gd name="adj" fmla="val 13333"/>
            </a:avLst>
          </a:prstGeom>
          <a:solidFill>
            <a:srgbClr val="151525"/>
          </a:solidFill>
          <a:ln w="25400">
            <a:solidFill>
              <a:srgbClr val="A855F7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09067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55F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TAM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965960" y="29718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$12.2T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434840" y="30906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Global experience economy by 2027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965960" y="393192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151525"/>
          </a:solidFill>
          <a:ln w="25400">
            <a:solidFill>
              <a:srgbClr val="10B981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409651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SAM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337560" y="3977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$340B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806440" y="40965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 dining + activities + travel (10 launch cities)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37560" y="4937760"/>
            <a:ext cx="5486400" cy="822960"/>
          </a:xfrm>
          <a:prstGeom prst="roundRect">
            <a:avLst>
              <a:gd name="adj" fmla="val 13333"/>
            </a:avLst>
          </a:prstGeom>
          <a:solidFill>
            <a:srgbClr val="151525"/>
          </a:solidFill>
          <a:ln w="25400">
            <a:solidFill>
              <a:srgbClr val="E11D48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510235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11D4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SOM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09160" y="4983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$2.1B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178040" y="510235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Capturable in 5 years at projected adoption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Bottom-up: 28M millennials and Gen Z in our 10 launch cities, $750 average annual spend on bookable experiences = $21B addressable. We need 0.5% capture to hit $100M ARR.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E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/ 17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E5E6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WTM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371600"/>
            <a:ext cx="4114800" cy="4114800"/>
          </a:xfrm>
          <a:prstGeom prst="ellipse">
            <a:avLst/>
          </a:prstGeom>
          <a:solidFill>
            <a:srgbClr val="DB2777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C4899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white space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is the consumer layer.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10972800" cy="292608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0" y="2560320"/>
            <a:ext cx="0" cy="2926080"/>
          </a:xfrm>
          <a:prstGeom prst="line">
            <a:avLst/>
          </a:prstGeom>
          <a:noFill/>
          <a:ln w="12700">
            <a:solidFill>
              <a:srgbClr val="2A2A3D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548640" y="4023360"/>
            <a:ext cx="10972800" cy="0"/>
          </a:xfrm>
          <a:prstGeom prst="line">
            <a:avLst/>
          </a:prstGeom>
          <a:noFill/>
          <a:ln w="12700">
            <a:solidFill>
              <a:srgbClr val="2A2A3D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121408" y="3127248"/>
            <a:ext cx="329184" cy="329184"/>
          </a:xfrm>
          <a:prstGeom prst="ellipse">
            <a:avLst/>
          </a:prstGeom>
          <a:solidFill>
            <a:srgbClr val="5E5E6E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E6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OpenTable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78608" y="2761488"/>
            <a:ext cx="329184" cy="329184"/>
          </a:xfrm>
          <a:prstGeom prst="ellipse">
            <a:avLst/>
          </a:prstGeom>
          <a:solidFill>
            <a:srgbClr val="5E5E6E"/>
          </a:solidFill>
          <a:ln/>
        </p:spPr>
      </p:sp>
      <p:sp>
        <p:nvSpPr>
          <p:cNvPr id="12" name="Text 10"/>
          <p:cNvSpPr/>
          <p:nvPr/>
        </p:nvSpPr>
        <p:spPr>
          <a:xfrm>
            <a:off x="297180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E6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Resy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35808" y="4773168"/>
            <a:ext cx="329184" cy="329184"/>
          </a:xfrm>
          <a:prstGeom prst="ellipse">
            <a:avLst/>
          </a:prstGeom>
          <a:solidFill>
            <a:srgbClr val="5E5E6E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E6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Eventbrite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64208" y="4407408"/>
            <a:ext cx="329184" cy="329184"/>
          </a:xfrm>
          <a:prstGeom prst="ellipse">
            <a:avLst/>
          </a:prstGeom>
          <a:solidFill>
            <a:srgbClr val="5E5E6E"/>
          </a:solidFill>
          <a:ln/>
        </p:spPr>
      </p:sp>
      <p:sp>
        <p:nvSpPr>
          <p:cNvPr id="16" name="Text 14"/>
          <p:cNvSpPr/>
          <p:nvPr/>
        </p:nvSpPr>
        <p:spPr>
          <a:xfrm>
            <a:off x="205740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E6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SeatGeek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207008" y="4133088"/>
            <a:ext cx="329184" cy="329184"/>
          </a:xfrm>
          <a:prstGeom prst="ellipse">
            <a:avLst/>
          </a:prstGeom>
          <a:solidFill>
            <a:srgbClr val="5E5E6E"/>
          </a:solidFill>
          <a:ln/>
        </p:spPr>
      </p:sp>
      <p:sp>
        <p:nvSpPr>
          <p:cNvPr id="18" name="Text 16"/>
          <p:cNvSpPr/>
          <p:nvPr/>
        </p:nvSpPr>
        <p:spPr>
          <a:xfrm>
            <a:off x="160020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E6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Lyft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50208" y="4133088"/>
            <a:ext cx="329184" cy="329184"/>
          </a:xfrm>
          <a:prstGeom prst="ellipse">
            <a:avLst/>
          </a:prstGeom>
          <a:solidFill>
            <a:srgbClr val="5E5E6E"/>
          </a:solidFill>
          <a:ln/>
        </p:spPr>
      </p:sp>
      <p:sp>
        <p:nvSpPr>
          <p:cNvPr id="20" name="Text 18"/>
          <p:cNvSpPr/>
          <p:nvPr/>
        </p:nvSpPr>
        <p:spPr>
          <a:xfrm>
            <a:off x="434340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E6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Partiful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50608" y="3950208"/>
            <a:ext cx="329184" cy="329184"/>
          </a:xfrm>
          <a:prstGeom prst="ellipse">
            <a:avLst/>
          </a:prstGeom>
          <a:solidFill>
            <a:srgbClr val="5E5E6E"/>
          </a:solidFill>
          <a:ln/>
        </p:spPr>
      </p:sp>
      <p:sp>
        <p:nvSpPr>
          <p:cNvPr id="22" name="Text 20"/>
          <p:cNvSpPr/>
          <p:nvPr/>
        </p:nvSpPr>
        <p:spPr>
          <a:xfrm>
            <a:off x="754380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E6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Airbnb Experiences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436608" y="2944368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982980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WTM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269748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0C1A14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9560" y="2788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0B98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WHITE SPACE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09560" y="3063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Premium consumer-grade.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Multi-category. Transparent.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5E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Curated and Premium →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5E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← Single Category   ·   Multi-Category →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E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 / 17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E5E6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WTM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371600"/>
            <a:ext cx="4114800" cy="4114800"/>
          </a:xfrm>
          <a:prstGeom prst="ellipse">
            <a:avLst/>
          </a:prstGeom>
          <a:solidFill>
            <a:srgbClr val="DB2777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0B98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REVENUE STREAMS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Five ways we make money.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No subscription. No ads.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194560" cy="3200400"/>
          </a:xfrm>
          <a:prstGeom prst="roundRect">
            <a:avLst>
              <a:gd name="adj" fmla="val 5000"/>
            </a:avLst>
          </a:prstGeom>
          <a:solidFill>
            <a:srgbClr val="151525"/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Booking Commission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55F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15%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420624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 confirmed booking. Half of legacy platforms. 12% for Pro hosts.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80360" y="2743200"/>
            <a:ext cx="2194560" cy="3200400"/>
          </a:xfrm>
          <a:prstGeom prst="roundRect">
            <a:avLst>
              <a:gd name="adj" fmla="val 5000"/>
            </a:avLst>
          </a:prstGeom>
          <a:solidFill>
            <a:srgbClr val="151525"/>
          </a:solidFill>
          <a:ln w="1270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Host Subscriptions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108960" y="3520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$49-199/mo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108960" y="420624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Premium tools, analytics, priority placement, success manager.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212080" y="2743200"/>
            <a:ext cx="2194560" cy="3200400"/>
          </a:xfrm>
          <a:prstGeom prst="roundRect">
            <a:avLst>
              <a:gd name="adj" fmla="val 5000"/>
            </a:avLst>
          </a:prstGeom>
          <a:solidFill>
            <a:srgbClr val="151525"/>
          </a:solidFill>
          <a:ln w="12700">
            <a:solidFill>
              <a:srgbClr val="14B8A6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0680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Gift Cards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40680" y="3520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Float + 3%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40680" y="420624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Float between purchase and redemption plus 3% processing.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543800" y="2743200"/>
            <a:ext cx="2194560" cy="3200400"/>
          </a:xfrm>
          <a:prstGeom prst="roundRect">
            <a:avLst>
              <a:gd name="adj" fmla="val 5000"/>
            </a:avLst>
          </a:prstGeom>
          <a:solidFill>
            <a:srgbClr val="151525"/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Sponsored Placements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72400" y="3520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CPM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772400" y="420624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Verified hosts boost top of feed. Clearly labeled. Editorial.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875520" y="2743200"/>
            <a:ext cx="2194560" cy="3200400"/>
          </a:xfrm>
          <a:prstGeom prst="roundRect">
            <a:avLst>
              <a:gd name="adj" fmla="val 5000"/>
            </a:avLst>
          </a:prstGeom>
          <a:solidFill>
            <a:srgbClr val="151525"/>
          </a:solidFill>
          <a:ln w="12700">
            <a:solidFill>
              <a:srgbClr val="E11D48">
                <a:alpha val="4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04120" y="2926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Brand Partnerships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104120" y="3520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11D4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Custom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0104120" y="420624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Premium brands sponsor curated collections.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Mix at scale: 65% commission, 15% host subscriptions, 10% gift card float, 7% sponsored, 3% brand. Installment payments (Affirm/Afterpay/Klarna) available on bookings of $500 or more.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E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/ 17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E5E6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WTM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371600"/>
            <a:ext cx="4114800" cy="4114800"/>
          </a:xfrm>
          <a:prstGeom prst="ellipse">
            <a:avLst/>
          </a:prstGeom>
          <a:solidFill>
            <a:srgbClr val="DB2777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4B8A6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UNIT ECONOMICS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math works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before brand spend.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2743200" cy="1554480"/>
          </a:xfrm>
          <a:prstGeom prst="roundRect">
            <a:avLst>
              <a:gd name="adj" fmla="val 8235"/>
            </a:avLst>
          </a:prstGeom>
          <a:solidFill>
            <a:srgbClr val="151525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200400"/>
            <a:ext cx="21945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$165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Blended avg booking value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0" y="2926080"/>
            <a:ext cx="2743200" cy="1554480"/>
          </a:xfrm>
          <a:prstGeom prst="roundRect">
            <a:avLst>
              <a:gd name="adj" fmla="val 8235"/>
            </a:avLst>
          </a:prstGeom>
          <a:solidFill>
            <a:srgbClr val="151525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3200400"/>
            <a:ext cx="21945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$24.75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703320" y="3703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Revenue per booking (15%)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2926080"/>
            <a:ext cx="2743200" cy="1554480"/>
          </a:xfrm>
          <a:prstGeom prst="roundRect">
            <a:avLst>
              <a:gd name="adj" fmla="val 8235"/>
            </a:avLst>
          </a:prstGeom>
          <a:solidFill>
            <a:srgbClr val="151525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3200400"/>
            <a:ext cx="21945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A855F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4.2×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583680" y="3703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LTV to CAC ratio (Year 2)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89720" y="2926080"/>
            <a:ext cx="2468880" cy="1554480"/>
          </a:xfrm>
          <a:prstGeom prst="roundRect">
            <a:avLst>
              <a:gd name="adj" fmla="val 8235"/>
            </a:avLst>
          </a:prstGeom>
          <a:solidFill>
            <a:srgbClr val="151525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64040" y="3200400"/>
            <a:ext cx="192024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68%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464040" y="3703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Gross margin after processing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2743200" cy="1554480"/>
          </a:xfrm>
          <a:prstGeom prst="roundRect">
            <a:avLst>
              <a:gd name="adj" fmla="val 8235"/>
            </a:avLst>
          </a:prstGeom>
          <a:solidFill>
            <a:srgbClr val="151525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892040"/>
            <a:ext cx="21945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11D4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11.4mo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822960" y="5394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CAC payback (blended)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29000" y="4617720"/>
            <a:ext cx="2743200" cy="1554480"/>
          </a:xfrm>
          <a:prstGeom prst="roundRect">
            <a:avLst>
              <a:gd name="adj" fmla="val 8235"/>
            </a:avLst>
          </a:prstGeom>
          <a:solidFill>
            <a:srgbClr val="151525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03320" y="4892040"/>
            <a:ext cx="21945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C4899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$420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3703320" y="5394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Annual ARPU at Local tier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09360" y="4617720"/>
            <a:ext cx="2743200" cy="1554480"/>
          </a:xfrm>
          <a:prstGeom prst="roundRect">
            <a:avLst>
              <a:gd name="adj" fmla="val 8235"/>
            </a:avLst>
          </a:prstGeom>
          <a:solidFill>
            <a:srgbClr val="151525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4892040"/>
            <a:ext cx="21945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73%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6583680" y="5394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12-month customer retention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189720" y="4617720"/>
            <a:ext cx="2468880" cy="1554480"/>
          </a:xfrm>
          <a:prstGeom prst="roundRect">
            <a:avLst>
              <a:gd name="adj" fmla="val 8235"/>
            </a:avLst>
          </a:prstGeom>
          <a:solidFill>
            <a:srgbClr val="151525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64040" y="4892040"/>
            <a:ext cx="192024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0.32×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9464040" y="53949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Marketing as % of GMV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5E5E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Source: WTM internal cohort modeling, Q1 2026 closed beta (n=2,840 users), validated against OpenTable, Resy, and Eventbrite benchmarks.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E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 / 17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E5E6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WTM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371600"/>
            <a:ext cx="4114800" cy="4114800"/>
          </a:xfrm>
          <a:prstGeom prst="ellipse">
            <a:avLst/>
          </a:prstGeom>
          <a:solidFill>
            <a:srgbClr val="DB2777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366F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24-MONTH 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From 10 cities to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50,000 active users.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151525"/>
          </a:solidFill>
          <a:ln w="12700">
            <a:solidFill>
              <a:srgbClr val="6366F1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Q3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Public launch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41148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74 verified experiences. 10 cities. iOS 17+ and Android 14+. ID.me verification. In-app waivers. Stripe Connect for hosts.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29000" y="274320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151525"/>
          </a:solidFill>
          <a:ln w="12700">
            <a:solidFill>
              <a:srgbClr val="6366F1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Q1 2027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3383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Scale supply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57600" y="41148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200+ experiences per city. Host self-onboarding. AI Concierge launch. Seasonal rewards rotation live.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0" y="274320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151525"/>
          </a:solidFill>
          <a:ln w="12700">
            <a:solidFill>
              <a:srgbClr val="6366F1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Q3 2027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3383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Network effects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37960" y="41148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User-created Plans go social. Friend-invite engine. Brand partnership suite.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89720" y="274320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151525"/>
          </a:solidFill>
          <a:ln w="12700">
            <a:solidFill>
              <a:srgbClr val="6366F1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366F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Q2 2028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418320" y="3383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Multi-region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418320" y="41148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metros. Localized content. Travel companion features.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Hiring: Engineering 6 to 14, Trust and Verification 1 to 5, Host Success 1 to 8, Marketing 2 to 6 by end of Year 2. LA office + remote hubs NYC and Atlanta.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E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 / 17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E5E6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WTM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371600"/>
            <a:ext cx="4114800" cy="4114800"/>
          </a:xfrm>
          <a:prstGeom prst="ellipse">
            <a:avLst/>
          </a:prstGeom>
          <a:solidFill>
            <a:srgbClr val="DB2777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855F7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TEAM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Built by people who've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shipped this before.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Founders' track record across consumer marketplace, payments, and trust and safety at companies including [redacted for diligence stage]. Engineering team of 6 with 40+ combined years of fintech and security experience. Advisory board includes operators from OpenTable, Stripe, and Resy.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389120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151525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31620" y="4572000"/>
            <a:ext cx="731520" cy="731520"/>
          </a:xfrm>
          <a:prstGeom prst="ellipse">
            <a:avLst/>
          </a:prstGeom>
          <a:solidFill>
            <a:srgbClr val="2A2A3D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5486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Founder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5852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5E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Bio in dataroom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29000" y="4389120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151525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1980" y="4572000"/>
            <a:ext cx="731520" cy="731520"/>
          </a:xfrm>
          <a:prstGeom prst="ellipse">
            <a:avLst/>
          </a:prstGeom>
          <a:solidFill>
            <a:srgbClr val="2A2A3D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5486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CTO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5852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5E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Bio in dataroom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309360" y="4389120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151525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92340" y="4572000"/>
            <a:ext cx="731520" cy="731520"/>
          </a:xfrm>
          <a:prstGeom prst="ellipse">
            <a:avLst/>
          </a:prstGeom>
          <a:solidFill>
            <a:srgbClr val="2A2A3D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5486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Head of Operations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5852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5E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Bio in dataroom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189720" y="4389120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151525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72700" y="4572000"/>
            <a:ext cx="731520" cy="731520"/>
          </a:xfrm>
          <a:prstGeom prst="ellipse">
            <a:avLst/>
          </a:prstGeom>
          <a:solidFill>
            <a:srgbClr val="2A2A3D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0" y="54864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Head of Trust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418320" y="58521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5E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Bio in dataroom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E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/ 17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E5E6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WTM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371600"/>
            <a:ext cx="4114800" cy="4114800"/>
          </a:xfrm>
          <a:prstGeom prst="ellipse">
            <a:avLst/>
          </a:prstGeom>
          <a:solidFill>
            <a:srgbClr val="DB2777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0B98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ASK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10B98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$3M Seed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 reach 50,000 monthly active users and $7.5M annualized GMV across the 10 launch cities by end of Year 2.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11064240" cy="5486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749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40%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828800" y="37764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3794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$1.2M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77840" y="37947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to 14 hires. Native iOS 17+ and Android 14+. Trust, verification, and waiver systems.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11064240" cy="5486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343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30%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828800" y="43708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Marketing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06240" y="4389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$0.9M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77840" y="43891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Brand campaign across 10 cities. Influencer partnerships. PR.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846320"/>
            <a:ext cx="11064240" cy="5486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937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20%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828800" y="4965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Host Acquisition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06240" y="4983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$0.6M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77840" y="49834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Boots on ground. Onboarding events. Verification operations.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solidFill>
            <a:srgbClr val="151525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532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10%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828800" y="55595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206240" y="5577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$0.3M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77840" y="55778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Legal, compliance, accounting, office for HQ.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10B9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Targeting close in 8 weeks. Lead investor allocation: $1.5M. Reserved for strategic angels: $500K.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5E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 / 17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E5E6E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WTM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371600"/>
            <a:ext cx="4114800" cy="4114800"/>
          </a:xfrm>
          <a:prstGeom prst="ellipse">
            <a:avLst/>
          </a:prstGeom>
          <a:solidFill>
            <a:srgbClr val="DB2777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A8A8B8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WTM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0972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8200" b="1" dirty="0">
                <a:solidFill>
                  <a:srgbClr val="FFFFFF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Less planning.</a:t>
            </a:r>
            <a:endParaRPr lang="en-US" sz="8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8200" b="1" dirty="0">
                <a:solidFill>
                  <a:srgbClr val="10B981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More living.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548640" y="47548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Thank you.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A8A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Let's build the experience economy's consumer layer.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E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hello@whatsthemove.app  ·  whatsthemove.app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WTM — Investor Deck</dc:title>
  <dc:subject>PptxGenJS Presentation</dc:subject>
  <dc:creator>What's the Move</dc:creator>
  <cp:lastModifiedBy>What's the Move</cp:lastModifiedBy>
  <cp:revision>1</cp:revision>
  <dcterms:created xsi:type="dcterms:W3CDTF">2026-04-26T22:39:02Z</dcterms:created>
  <dcterms:modified xsi:type="dcterms:W3CDTF">2026-04-26T22:39:02Z</dcterms:modified>
</cp:coreProperties>
</file>